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92" r:id="rId5"/>
    <p:sldId id="335" r:id="rId6"/>
    <p:sldId id="263" r:id="rId7"/>
    <p:sldId id="33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5F12AF-728A-400D-BE4E-D69735A32D6C}" v="4" dt="2024-06-12T12:38:57.5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60" y="3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D7E3E-9FCB-B807-4CFD-1AEDB66D0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1BAF89-E72F-7ACD-D3FE-28C39D7F16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2AC10-2EF1-7A12-A39B-397DC64CA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6900-C303-4DD4-AA34-2DD556B600CF}" type="datetimeFigureOut">
              <a:rPr lang="en-US" smtClean="0"/>
              <a:t>6/12/2024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13E61-5674-BBE6-F7C8-A34C93F6C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35449-FF50-AD8E-9828-7F183A071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70757-712C-47CE-9DEA-DB6D3842E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619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2DB8-E291-20A6-9DFA-BB4ACE683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0ADAD-79E4-99A4-74B3-531998AC6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392E7-DC2D-2DF0-1224-45AC99E9C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6900-C303-4DD4-AA34-2DD556B600CF}" type="datetimeFigureOut">
              <a:rPr lang="en-US" smtClean="0"/>
              <a:t>6/12/2024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FCDE6-C19A-AA9E-C814-077A188A3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7F796-2C41-DE70-4756-89F165CF2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70757-712C-47CE-9DEA-DB6D3842E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553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71FC3-22D0-AD8C-9BB5-8792F9D34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EA870E-81DD-8F2D-2DD2-F113D912D9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8FCB2-FB27-8264-3EBF-E7172588C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6900-C303-4DD4-AA34-2DD556B600CF}" type="datetimeFigureOut">
              <a:rPr lang="en-US" smtClean="0"/>
              <a:t>6/12/2024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2FA1F-CA7B-7650-3730-C89B96D68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65F99-AF4A-4741-8DA2-CBAFBAECA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70757-712C-47CE-9DEA-DB6D3842E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089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DEDA1-47D6-4057-294C-43BB150C3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6417D-D886-DB7D-849A-1D912C4AF4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56C37-A011-5A39-6E69-E6132C9ACA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1C2A60-8ED4-F78E-A04D-A114344A2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6900-C303-4DD4-AA34-2DD556B600CF}" type="datetimeFigureOut">
              <a:rPr lang="en-US" smtClean="0"/>
              <a:t>6/12/2024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F6A9B9-B5A9-FA15-C3EB-2BD84720C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AF382C-6D34-2F57-89ED-A374945E6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70757-712C-47CE-9DEA-DB6D3842E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056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FCF4E-3C8B-CCA6-8E55-2B3D881F0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4EC4E8-0B86-48BC-8388-E9A0FB874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918CB3-6B85-E860-9221-B320FEDF0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8AF1AD-E5AF-00E0-C307-203FB30C2A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D0591C-2AC6-2EFA-2000-B77ECB1CC1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D38720-4234-C5E1-956A-49DD86BFA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6900-C303-4DD4-AA34-2DD556B600CF}" type="datetimeFigureOut">
              <a:rPr lang="en-US" smtClean="0"/>
              <a:t>6/12/2024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E99069-0BD3-CA0A-3675-48E4101CD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62ED98-26D2-4BCF-4E1D-33F67D481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70757-712C-47CE-9DEA-DB6D3842E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835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CA428-852B-E2E4-7E39-9DF1E402F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BBD523-B8D8-72E3-B09C-EBD714C31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6900-C303-4DD4-AA34-2DD556B600CF}" type="datetimeFigureOut">
              <a:rPr lang="en-US" smtClean="0"/>
              <a:t>6/12/2024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A1ECF2-C95D-5306-6959-A96B71F05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00B78B-743D-1C0C-5B6F-52A73D75A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70757-712C-47CE-9DEA-DB6D3842E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790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09EA2A-3A65-150D-E18F-36E69D935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6900-C303-4DD4-AA34-2DD556B600CF}" type="datetimeFigureOut">
              <a:rPr lang="en-US" smtClean="0"/>
              <a:t>6/12/2024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3D73A-D094-E4B8-F563-3E7D82485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4CA16D-A73F-256F-3187-3B1C2C34C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70757-712C-47CE-9DEA-DB6D3842E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681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5D245-8706-B8E1-B9CA-B78065E93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ADFC6-477D-3DAF-B010-771D4A056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50CCED-055A-1F20-75EE-9DD4337474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8E124F-2A1A-963E-367A-EDEB1D7CE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6900-C303-4DD4-AA34-2DD556B600CF}" type="datetimeFigureOut">
              <a:rPr lang="en-US" smtClean="0"/>
              <a:t>6/12/2024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11555E-505E-C293-C1DE-25CEB0773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793D0-BD95-3403-DECB-F2AD32DF9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70757-712C-47CE-9DEA-DB6D3842E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26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277AB-D8AA-CB64-D3C6-07F22B086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16140F-56E2-7D67-CE7F-E009A5F302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58C185-3249-6C17-4ED9-8C3067CFBF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67A8B-4292-D528-A69D-4761D6C43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6900-C303-4DD4-AA34-2DD556B600CF}" type="datetimeFigureOut">
              <a:rPr lang="en-US" smtClean="0"/>
              <a:t>6/12/2024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E82FF9-A8DC-6679-0EC0-1FC6EBBDB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83B22B-8E76-7F06-8002-117CC6F89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70757-712C-47CE-9DEA-DB6D3842E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381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C0FD8-43FF-E846-6083-B8528CF88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D0AC88-20BE-3DB0-6F3F-4965ED406F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98981-AA2A-A94A-4318-DB908FDA3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6900-C303-4DD4-AA34-2DD556B600CF}" type="datetimeFigureOut">
              <a:rPr lang="en-US" smtClean="0"/>
              <a:t>6/12/2024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745C0-F8CF-2C85-E6AB-BFD1C7A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7E61B-EAA2-4457-0788-DBB416B56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70757-712C-47CE-9DEA-DB6D3842E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469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FB926B-6261-649F-E51D-6862338BEC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26CE1C-9E77-28C4-96FF-497AF230E7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C105E-B663-21C2-126E-2407D4BD5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6900-C303-4DD4-AA34-2DD556B600CF}" type="datetimeFigureOut">
              <a:rPr lang="en-US" smtClean="0"/>
              <a:t>6/12/2024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1A430-C948-F897-02B8-44E8BA8F5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E2AFB-BC05-47A7-CC6D-4C0987CE5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70757-712C-47CE-9DEA-DB6D3842E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840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A0F08B-AC66-DD4C-2A64-2C880C8FB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C0E808-33F4-EE8A-A612-97FD4D43F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AF9C2-92C1-549F-6D2E-2C0AE0502A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1A6900-C303-4DD4-AA34-2DD556B600CF}" type="datetimeFigureOut">
              <a:rPr lang="en-US" smtClean="0"/>
              <a:t>6/12/2024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F54992-16AD-1B0E-C325-63E9958A4B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4AA95-9519-CA73-8893-8C864EE42F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B70757-712C-47CE-9DEA-DB6D3842E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970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EDF27-8B51-E340-DE3B-B79F90ABA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Molecular Structure and Color 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624CA9-3D63-2EBC-3456-45BA7566C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Learning Outcomes:</a:t>
            </a:r>
          </a:p>
          <a:p>
            <a:r>
              <a:rPr lang="en-US"/>
              <a:t>The red, green, and blue colors in a smartphone display are due to different dyes</a:t>
            </a:r>
          </a:p>
          <a:p>
            <a:r>
              <a:rPr lang="en-US"/>
              <a:t>The chemical structure of the dye is responsible for the color you see</a:t>
            </a:r>
          </a:p>
          <a:p>
            <a:r>
              <a:rPr lang="en-US"/>
              <a:t>The chemical structure of the dye is responsible for the energy of light you see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3097C8-48E5-1275-98AE-495D8DDB8186}"/>
              </a:ext>
            </a:extLst>
          </p:cNvPr>
          <p:cNvSpPr txBox="1"/>
          <p:nvPr/>
        </p:nvSpPr>
        <p:spPr>
          <a:xfrm>
            <a:off x="349250" y="5922595"/>
            <a:ext cx="626012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ptos"/>
                <a:ea typeface="Aptos"/>
                <a:cs typeface="Aptos"/>
              </a:rPr>
              <a:t>This material was developed as part of a grant received from the National Science Foundation, Award Number 1905734</a:t>
            </a:r>
            <a:endParaRPr lang="en-US"/>
          </a:p>
        </p:txBody>
      </p:sp>
      <p:pic>
        <p:nvPicPr>
          <p:cNvPr id="6" name="Graphic 5" descr="NSF - National Science Foundation - Home">
            <a:extLst>
              <a:ext uri="{FF2B5EF4-FFF2-40B4-BE49-F238E27FC236}">
                <a16:creationId xmlns:a16="http://schemas.microsoft.com/office/drawing/2014/main" id="{0B75C6CD-BD5C-A0F2-1058-2206E86A7C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28015" y="5553770"/>
            <a:ext cx="2743199" cy="1182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424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80C81-5A18-E6DD-D59A-5DF52C0EF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is the color determined in an OLED display?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F0175-C5A1-FBF3-AAEE-13159E554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55" y="4930862"/>
            <a:ext cx="5086004" cy="1448507"/>
          </a:xfrm>
        </p:spPr>
        <p:txBody>
          <a:bodyPr>
            <a:normAutofit/>
          </a:bodyPr>
          <a:lstStyle/>
          <a:p>
            <a:pPr algn="just"/>
            <a:r>
              <a:rPr lang="en-US" b="0" i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Molecules in an OLED emit light when an electric current passes through them. </a:t>
            </a:r>
            <a:endParaRPr lang="en-US"/>
          </a:p>
        </p:txBody>
      </p:sp>
      <p:pic>
        <p:nvPicPr>
          <p:cNvPr id="2050" name="Picture 2" descr="The OLED Nintendo Switch doesn't have a Pentile screen - The Verge">
            <a:extLst>
              <a:ext uri="{FF2B5EF4-FFF2-40B4-BE49-F238E27FC236}">
                <a16:creationId xmlns:a16="http://schemas.microsoft.com/office/drawing/2014/main" id="{0813FBCC-D9C1-27EC-9C8E-D4B63E35BA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6" t="12146" r="184" b="36886"/>
          <a:stretch/>
        </p:blipFill>
        <p:spPr bwMode="auto">
          <a:xfrm>
            <a:off x="6421891" y="4140598"/>
            <a:ext cx="5252126" cy="2451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13B1F63-836D-A225-22A7-B929004A1A18}"/>
              </a:ext>
            </a:extLst>
          </p:cNvPr>
          <p:cNvCxnSpPr>
            <a:cxnSpLocks/>
          </p:cNvCxnSpPr>
          <p:nvPr/>
        </p:nvCxnSpPr>
        <p:spPr>
          <a:xfrm flipH="1" flipV="1">
            <a:off x="4846224" y="3524698"/>
            <a:ext cx="1575667" cy="95840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F19D0E3-084D-2C34-425A-B430151AC59D}"/>
              </a:ext>
            </a:extLst>
          </p:cNvPr>
          <p:cNvCxnSpPr>
            <a:cxnSpLocks/>
          </p:cNvCxnSpPr>
          <p:nvPr/>
        </p:nvCxnSpPr>
        <p:spPr>
          <a:xfrm flipV="1">
            <a:off x="9388361" y="3456755"/>
            <a:ext cx="1398535" cy="1026345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E21F209-E5C4-7DA6-4E36-27091924A894}"/>
              </a:ext>
            </a:extLst>
          </p:cNvPr>
          <p:cNvCxnSpPr>
            <a:cxnSpLocks/>
          </p:cNvCxnSpPr>
          <p:nvPr/>
        </p:nvCxnSpPr>
        <p:spPr>
          <a:xfrm flipH="1" flipV="1">
            <a:off x="8036719" y="3307556"/>
            <a:ext cx="831056" cy="1054332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9EB92F7C-A06F-8FB2-6E42-E98FE392B5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4865" y="1762831"/>
          <a:ext cx="3188637" cy="28035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3" imgW="1787142" imgH="1571156" progId="ChemDraw.Document.6.0">
                  <p:embed/>
                </p:oleObj>
              </mc:Choice>
              <mc:Fallback>
                <p:oleObj name="CS ChemDraw Drawing" r:id="rId3" imgW="1787142" imgH="1571156" progId="ChemDraw.Document.6.0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9EB92F7C-A06F-8FB2-6E42-E98FE392B5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44865" y="1762831"/>
                        <a:ext cx="3188637" cy="28035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8D07F943-5E68-428D-8D56-D490934544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65780" y="1213170"/>
          <a:ext cx="2110059" cy="2571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5" imgW="1159688" imgH="1413990" progId="ChemDraw.Document.6.0">
                  <p:embed/>
                </p:oleObj>
              </mc:Choice>
              <mc:Fallback>
                <p:oleObj name="CS ChemDraw Drawing" r:id="rId5" imgW="1159688" imgH="1413990" progId="ChemDraw.Document.6.0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8D07F943-5E68-428D-8D56-D490934544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665780" y="1213170"/>
                        <a:ext cx="2110059" cy="25719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45444985-7176-A1EE-58BC-09C2444BCF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325970" y="804343"/>
          <a:ext cx="2625666" cy="2720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7" imgW="1628775" imgH="1688152" progId="ChemDraw.Document.6.0">
                  <p:embed/>
                </p:oleObj>
              </mc:Choice>
              <mc:Fallback>
                <p:oleObj name="CS ChemDraw Drawing" r:id="rId7" imgW="1628775" imgH="1688152" progId="ChemDraw.Document.6.0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45444985-7176-A1EE-58BC-09C2444BCF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325970" y="804343"/>
                        <a:ext cx="2625666" cy="27203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33384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5CAA2-9E74-7A11-B71D-B8B7A99C2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Molecular structure!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E1968-90FC-D577-DC5A-BB01E4007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239" y="1964655"/>
            <a:ext cx="6522285" cy="4351338"/>
          </a:xfrm>
        </p:spPr>
        <p:txBody>
          <a:bodyPr>
            <a:normAutofit/>
          </a:bodyPr>
          <a:lstStyle/>
          <a:p>
            <a:pPr algn="just"/>
            <a:r>
              <a:rPr lang="en-US"/>
              <a:t>The chemical structure changes the color of light we perceive.​</a:t>
            </a:r>
          </a:p>
          <a:p>
            <a:pPr algn="just"/>
            <a:endParaRPr lang="en-US"/>
          </a:p>
          <a:p>
            <a:pPr algn="just"/>
            <a:r>
              <a:rPr lang="en-US"/>
              <a:t>Small changes in chemistry can lead to big changes in color.​</a:t>
            </a:r>
          </a:p>
          <a:p>
            <a:pPr marL="0" indent="0" algn="just">
              <a:buNone/>
            </a:pPr>
            <a:endParaRPr lang="en-US"/>
          </a:p>
          <a:p>
            <a:pPr algn="just"/>
            <a:r>
              <a:rPr lang="en-US"/>
              <a:t>Computational chemists can predict color based on the molecular structure.​</a:t>
            </a:r>
          </a:p>
        </p:txBody>
      </p:sp>
      <p:pic>
        <p:nvPicPr>
          <p:cNvPr id="3076" name="Picture 4" descr="The color purple is unlike all others, in a physical sense">
            <a:extLst>
              <a:ext uri="{FF2B5EF4-FFF2-40B4-BE49-F238E27FC236}">
                <a16:creationId xmlns:a16="http://schemas.microsoft.com/office/drawing/2014/main" id="{0BD072CF-64A9-4FB0-21CE-638EE988AB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729"/>
          <a:stretch/>
        </p:blipFill>
        <p:spPr bwMode="auto">
          <a:xfrm rot="5400000">
            <a:off x="5464874" y="2809229"/>
            <a:ext cx="6883538" cy="1214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9" name="Object 38">
            <a:extLst>
              <a:ext uri="{FF2B5EF4-FFF2-40B4-BE49-F238E27FC236}">
                <a16:creationId xmlns:a16="http://schemas.microsoft.com/office/drawing/2014/main" id="{A41CA02A-65E2-1396-E3D8-738F62D41B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66182" y="5137987"/>
          <a:ext cx="1825345" cy="16048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3" imgW="1787142" imgH="1571156" progId="ChemDraw.Document.6.0">
                  <p:embed/>
                </p:oleObj>
              </mc:Choice>
              <mc:Fallback>
                <p:oleObj name="CS ChemDraw Drawing" r:id="rId3" imgW="1787142" imgH="1571156" progId="ChemDraw.Document.6.0">
                  <p:embed/>
                  <p:pic>
                    <p:nvPicPr>
                      <p:cNvPr id="39" name="Object 38">
                        <a:extLst>
                          <a:ext uri="{FF2B5EF4-FFF2-40B4-BE49-F238E27FC236}">
                            <a16:creationId xmlns:a16="http://schemas.microsoft.com/office/drawing/2014/main" id="{A41CA02A-65E2-1396-E3D8-738F62D41B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866182" y="5137987"/>
                        <a:ext cx="1825345" cy="16048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56">
            <a:extLst>
              <a:ext uri="{FF2B5EF4-FFF2-40B4-BE49-F238E27FC236}">
                <a16:creationId xmlns:a16="http://schemas.microsoft.com/office/drawing/2014/main" id="{9CFA8951-11F1-7E5C-729E-CE34E9CDEC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05668" y="2486581"/>
          <a:ext cx="1546371" cy="188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5" imgW="1159688" imgH="1413990" progId="ChemDraw.Document.6.0">
                  <p:embed/>
                </p:oleObj>
              </mc:Choice>
              <mc:Fallback>
                <p:oleObj name="CS ChemDraw Drawing" r:id="rId5" imgW="1159688" imgH="1413990" progId="ChemDraw.Document.6.0">
                  <p:embed/>
                  <p:pic>
                    <p:nvPicPr>
                      <p:cNvPr id="57" name="Object 56">
                        <a:extLst>
                          <a:ext uri="{FF2B5EF4-FFF2-40B4-BE49-F238E27FC236}">
                            <a16:creationId xmlns:a16="http://schemas.microsoft.com/office/drawing/2014/main" id="{9CFA8951-11F1-7E5C-729E-CE34E9CDEC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005668" y="2486581"/>
                        <a:ext cx="1546371" cy="18848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57">
            <a:extLst>
              <a:ext uri="{FF2B5EF4-FFF2-40B4-BE49-F238E27FC236}">
                <a16:creationId xmlns:a16="http://schemas.microsoft.com/office/drawing/2014/main" id="{38A89E4C-72B4-D250-A46D-4AEE62FA2C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59611" y="189982"/>
          <a:ext cx="2002377" cy="207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7" imgW="1628775" imgH="1688152" progId="ChemDraw.Document.6.0">
                  <p:embed/>
                </p:oleObj>
              </mc:Choice>
              <mc:Fallback>
                <p:oleObj name="CS ChemDraw Drawing" r:id="rId7" imgW="1628775" imgH="1688152" progId="ChemDraw.Document.6.0">
                  <p:embed/>
                  <p:pic>
                    <p:nvPicPr>
                      <p:cNvPr id="58" name="Object 57">
                        <a:extLst>
                          <a:ext uri="{FF2B5EF4-FFF2-40B4-BE49-F238E27FC236}">
                            <a16:creationId xmlns:a16="http://schemas.microsoft.com/office/drawing/2014/main" id="{38A89E4C-72B4-D250-A46D-4AEE62FA2C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859611" y="189982"/>
                        <a:ext cx="2002377" cy="2074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7BA5C37-98EF-E1BB-FED2-F90D39599241}"/>
              </a:ext>
            </a:extLst>
          </p:cNvPr>
          <p:cNvCxnSpPr/>
          <p:nvPr/>
        </p:nvCxnSpPr>
        <p:spPr>
          <a:xfrm flipV="1">
            <a:off x="8051007" y="1357312"/>
            <a:ext cx="0" cy="414337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F28915B5-E468-8B4E-30E2-9C6174384DA9}"/>
              </a:ext>
            </a:extLst>
          </p:cNvPr>
          <p:cNvSpPr txBox="1"/>
          <p:nvPr/>
        </p:nvSpPr>
        <p:spPr>
          <a:xfrm rot="16200000">
            <a:off x="7022295" y="3185398"/>
            <a:ext cx="13406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Energy</a:t>
            </a:r>
          </a:p>
        </p:txBody>
      </p:sp>
    </p:spTree>
    <p:extLst>
      <p:ext uri="{BB962C8B-B14F-4D97-AF65-F5344CB8AC3E}">
        <p14:creationId xmlns:p14="http://schemas.microsoft.com/office/powerpoint/2010/main" val="3257302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500ED-F867-B2CD-8C58-32AB68219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Let’s predict color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235D6-2C0E-1D2D-0F59-E3783B0B8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250" y="2010288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Which molecule will have the color with the largest energy (i.e., most blue color)?</a:t>
            </a:r>
          </a:p>
          <a:p>
            <a:r>
              <a:rPr lang="en-US" dirty="0"/>
              <a:t>If you wanted to make a molecule more red in color, what changes could you make?</a:t>
            </a:r>
          </a:p>
          <a:p>
            <a:r>
              <a:rPr lang="en-US" dirty="0"/>
              <a:t>Estimate how many double bonds are needed for violet (400 nm or 3.1 eV). 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1A2F89-6546-6422-4F91-99AB6FF62873}"/>
              </a:ext>
            </a:extLst>
          </p:cNvPr>
          <p:cNvSpPr txBox="1"/>
          <p:nvPr/>
        </p:nvSpPr>
        <p:spPr>
          <a:xfrm>
            <a:off x="200578" y="5166211"/>
            <a:ext cx="11701286" cy="138499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 dirty="0"/>
              <a:t>Color and Molecular Structure Module:</a:t>
            </a:r>
            <a:endParaRPr lang="en-US" sz="2800" dirty="0">
              <a:solidFill>
                <a:srgbClr val="FF0000"/>
              </a:solidFill>
            </a:endParaRPr>
          </a:p>
          <a:p>
            <a:pPr lvl="2"/>
            <a:r>
              <a:rPr lang="en-US" sz="2800" dirty="0">
                <a:ea typeface="+mn-lt"/>
                <a:cs typeface="+mn-lt"/>
              </a:rPr>
              <a:t>https://github.com/megan-r-brown/Exploring-the-role-of-Materials-Chemistry-Biology-and-Electronics-in-Smartphones/tree/main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047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14c9847-d0cb-4790-a056-c9543f667a3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DBA80802E260348BE9A513770D06CC8" ma:contentTypeVersion="13" ma:contentTypeDescription="Create a new document." ma:contentTypeScope="" ma:versionID="367061194ad3f56b9d6410b084250b97">
  <xsd:schema xmlns:xsd="http://www.w3.org/2001/XMLSchema" xmlns:xs="http://www.w3.org/2001/XMLSchema" xmlns:p="http://schemas.microsoft.com/office/2006/metadata/properties" xmlns:ns3="a9ce500f-569d-41dc-9629-a22fb9217e31" xmlns:ns4="b14c9847-d0cb-4790-a056-c9543f667a39" targetNamespace="http://schemas.microsoft.com/office/2006/metadata/properties" ma:root="true" ma:fieldsID="7df2b33f35190e2396511ed7e0baf10c" ns3:_="" ns4:_="">
    <xsd:import namespace="a9ce500f-569d-41dc-9629-a22fb9217e31"/>
    <xsd:import namespace="b14c9847-d0cb-4790-a056-c9543f667a39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_activity" minOccurs="0"/>
                <xsd:element ref="ns4:MediaServiceObjectDetectorVersions" minOccurs="0"/>
                <xsd:element ref="ns4:MediaServiceSearchProperties" minOccurs="0"/>
                <xsd:element ref="ns4:MediaServiceDateTaken" minOccurs="0"/>
                <xsd:element ref="ns4:MediaServiceSystemTags" minOccurs="0"/>
                <xsd:element ref="ns4:MediaServiceGenerationTime" minOccurs="0"/>
                <xsd:element ref="ns4:MediaServiceEventHashCode" minOccurs="0"/>
                <xsd:element ref="ns4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ce500f-569d-41dc-9629-a22fb9217e3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4c9847-d0cb-4790-a056-c9543f667a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5A87229-C4DB-4E2A-AAD4-5B2BDA9060C6}">
  <ds:schemaRefs>
    <ds:schemaRef ds:uri="http://schemas.microsoft.com/office/2006/documentManagement/types"/>
    <ds:schemaRef ds:uri="http://purl.org/dc/elements/1.1/"/>
    <ds:schemaRef ds:uri="b14c9847-d0cb-4790-a056-c9543f667a39"/>
    <ds:schemaRef ds:uri="http://schemas.microsoft.com/office/2006/metadata/properties"/>
    <ds:schemaRef ds:uri="http://schemas.openxmlformats.org/package/2006/metadata/core-properties"/>
    <ds:schemaRef ds:uri="http://purl.org/dc/dcmitype/"/>
    <ds:schemaRef ds:uri="a9ce500f-569d-41dc-9629-a22fb9217e31"/>
    <ds:schemaRef ds:uri="http://schemas.microsoft.com/office/infopath/2007/PartnerControl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DE2D9DC-2E64-4B1B-9316-C4C99D2BF85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07B87CE-799B-4DAD-B824-0684A73510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ce500f-569d-41dc-9629-a22fb9217e31"/>
    <ds:schemaRef ds:uri="b14c9847-d0cb-4790-a056-c9543f667a3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211</Words>
  <Application>Microsoft Office PowerPoint</Application>
  <PresentationFormat>Widescreen</PresentationFormat>
  <Paragraphs>24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Roboto</vt:lpstr>
      <vt:lpstr>Office Theme</vt:lpstr>
      <vt:lpstr>CS ChemDraw Drawing</vt:lpstr>
      <vt:lpstr>Molecular Structure and Color </vt:lpstr>
      <vt:lpstr>How is the color determined in an OLED display?</vt:lpstr>
      <vt:lpstr>Molecular structure!</vt:lpstr>
      <vt:lpstr>Let’s predict color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Megan Brown</dc:creator>
  <cp:lastModifiedBy>Brown, Megan R.</cp:lastModifiedBy>
  <cp:revision>2</cp:revision>
  <dcterms:created xsi:type="dcterms:W3CDTF">2024-06-12T12:36:02Z</dcterms:created>
  <dcterms:modified xsi:type="dcterms:W3CDTF">2024-06-12T12:51:32Z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0x0101001DBA80802E260348BE9A513770D06CC8</vt:lpwstr>
  </property>
</Properties>
</file>